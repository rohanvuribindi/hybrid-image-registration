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1520" y="10515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Arial"/>
              </a:defRPr>
            </a:pPr>
            <a:r>
              <a:t>TITLE PAGE: ZENITH</a:t>
            </a:r>
          </a:p>
          <a:p>
            <a:pPr>
              <a:defRPr sz="1200">
                <a:solidFill>
                  <a:srgbClr val="2B6CB0"/>
                </a:solidFill>
                <a:latin typeface="Arial"/>
              </a:defRPr>
            </a:pPr>
            <a:r>
              <a:t>Autonomous Multi-Modal Lunar Image Registration &amp; Sub-Pixel Photogrammetry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783080"/>
            <a:ext cx="603504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10515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Arial"/>
              </a:defRPr>
            </a:pPr>
            <a:r>
              <a:t>TITLE PAGE: ZENITH</a:t>
            </a:r>
          </a:p>
          <a:p>
            <a:pPr>
              <a:defRPr sz="1200">
                <a:solidFill>
                  <a:srgbClr val="2B6CB0"/>
                </a:solidFill>
                <a:latin typeface="Arial"/>
              </a:defRPr>
            </a:pPr>
            <a:r>
              <a:t>Autonomous Multi-Modal Lunar Image Registration &amp; Sub-Pixel Photogrammetry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1783080"/>
            <a:ext cx="603504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10515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Arial"/>
              </a:defRPr>
            </a:pPr>
            <a:r>
              <a:t>TITLE PAGE: ZENITH</a:t>
            </a:r>
          </a:p>
          <a:p>
            <a:pPr>
              <a:defRPr sz="1200">
                <a:solidFill>
                  <a:srgbClr val="2B6CB0"/>
                </a:solidFill>
                <a:latin typeface="Arial"/>
              </a:defRPr>
            </a:pPr>
            <a:r>
              <a:t>Autonomous Multi-Modal Lunar Image Registration &amp; Sub-Pixel Photogrammetry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1783080"/>
            <a:ext cx="603504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10515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Arial"/>
              </a:defRPr>
            </a:pPr>
            <a:r>
              <a:t>TITLE PAGE: ZENITH</a:t>
            </a:r>
          </a:p>
          <a:p>
            <a:pPr>
              <a:defRPr sz="1200">
                <a:solidFill>
                  <a:srgbClr val="2B6CB0"/>
                </a:solidFill>
                <a:latin typeface="Arial"/>
              </a:defRPr>
            </a:pPr>
            <a:r>
              <a:t>Autonomous Multi-Modal Lunar Image Registration &amp; Sub-Pixel Photogrammetry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1783080"/>
            <a:ext cx="603504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10515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Arial"/>
              </a:defRPr>
            </a:pPr>
            <a:r>
              <a:t>TITLE PAGE: ZENITH</a:t>
            </a:r>
          </a:p>
          <a:p>
            <a:pPr>
              <a:defRPr sz="1200">
                <a:solidFill>
                  <a:srgbClr val="2B6CB0"/>
                </a:solidFill>
                <a:latin typeface="Arial"/>
              </a:defRPr>
            </a:pPr>
            <a:r>
              <a:t>Autonomous Multi-Modal Lunar Image Registration &amp; Sub-Pixel Photogrammetry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1783080"/>
            <a:ext cx="603504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10515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Arial"/>
              </a:defRPr>
            </a:pPr>
            <a:r>
              <a:t>TITLE PAGE: ZENITH</a:t>
            </a:r>
          </a:p>
          <a:p>
            <a:pPr>
              <a:defRPr sz="1200">
                <a:solidFill>
                  <a:srgbClr val="2B6CB0"/>
                </a:solidFill>
                <a:latin typeface="Arial"/>
              </a:defRPr>
            </a:pPr>
            <a:r>
              <a:t>Autonomous Multi-Modal Lunar Image Registration &amp; Sub-Pixel Photogrammetry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1783080"/>
            <a:ext cx="603504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10515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Arial"/>
              </a:defRPr>
            </a:pPr>
            <a:r>
              <a:t>TITLE PAGE: ZENITH</a:t>
            </a:r>
          </a:p>
          <a:p>
            <a:pPr>
              <a:defRPr sz="1200">
                <a:solidFill>
                  <a:srgbClr val="2B6CB0"/>
                </a:solidFill>
                <a:latin typeface="Arial"/>
              </a:defRPr>
            </a:pPr>
            <a:r>
              <a:t>Autonomous Multi-Modal Lunar Image Registration &amp; Sub-Pixel Photogrammetry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1783080"/>
            <a:ext cx="603504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1E4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10515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Arial"/>
              </a:defRPr>
            </a:pPr>
            <a:r>
              <a:t>TITLE PAGE: ZENITH</a:t>
            </a:r>
          </a:p>
          <a:p>
            <a:pPr>
              <a:defRPr sz="1200">
                <a:solidFill>
                  <a:srgbClr val="2B6CB0"/>
                </a:solidFill>
                <a:latin typeface="Arial"/>
              </a:defRPr>
            </a:pPr>
            <a:r>
              <a:t>Autonomous Multi-Modal Lunar Image Registration &amp; Sub-Pixel Photogrammetry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1783080"/>
            <a:ext cx="603504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1874519"/>
            <a:ext cx="5669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1A365D"/>
                </a:solidFill>
                <a:latin typeface="Arial"/>
              </a:rPr>
              <a:t>• Problem Statement ID: </a:t>
            </a:r>
            <a:r>
              <a:rPr sz="1050" b="1">
                <a:solidFill>
                  <a:srgbClr val="0E1E40"/>
                </a:solidFill>
                <a:latin typeface="Arial"/>
              </a:rPr>
              <a:t>SIH26166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A365D"/>
                </a:solidFill>
                <a:latin typeface="Arial"/>
              </a:rPr>
              <a:t>• Problem Statement Title: </a:t>
            </a:r>
            <a:r>
              <a:rPr sz="1050" b="0">
                <a:solidFill>
                  <a:srgbClr val="2D3748"/>
                </a:solidFill>
                <a:latin typeface="Arial"/>
              </a:rPr>
              <a:t>Multi-modal, Sun angle and scale invariant image correspondence using Chandrayaan-2 optical images (OHRC, TMC and IIRS)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A365D"/>
                </a:solidFill>
                <a:latin typeface="Arial"/>
              </a:rPr>
              <a:t>• Theme: </a:t>
            </a:r>
            <a:r>
              <a:rPr sz="1050" b="0">
                <a:solidFill>
                  <a:srgbClr val="2D3748"/>
                </a:solidFill>
                <a:latin typeface="Arial"/>
              </a:rPr>
              <a:t>Space Technology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A365D"/>
                </a:solidFill>
                <a:latin typeface="Arial"/>
              </a:rPr>
              <a:t>• PS Category: </a:t>
            </a:r>
            <a:r>
              <a:rPr sz="1050" b="0">
                <a:solidFill>
                  <a:srgbClr val="2D3748"/>
                </a:solidFill>
                <a:latin typeface="Arial"/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A365D"/>
                </a:solidFill>
                <a:latin typeface="Arial"/>
              </a:rPr>
              <a:t>• Team ID: </a:t>
            </a:r>
            <a:r>
              <a:rPr sz="1050" b="1">
                <a:solidFill>
                  <a:srgbClr val="0E1E40"/>
                </a:solidFill>
                <a:latin typeface="Arial"/>
              </a:rPr>
              <a:t>SIH26-A0H-T363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A365D"/>
                </a:solidFill>
                <a:latin typeface="Arial"/>
              </a:rPr>
              <a:t>• Team Name (Registered on portal): </a:t>
            </a:r>
            <a:r>
              <a:rPr sz="1050" b="1">
                <a:solidFill>
                  <a:srgbClr val="0E1E40"/>
                </a:solidFill>
                <a:latin typeface="Arial"/>
              </a:rPr>
              <a:t>Team Zenith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0200" y="16459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E1E40"/>
                </a:solidFill>
                <a:latin typeface="Arial"/>
              </a:defRPr>
            </a:pPr>
            <a:r>
              <a:t>IDEA TITLE: ZENITH</a:t>
            </a:r>
          </a:p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Proposed Solution (Describe your Idea/Solution/Prototype)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37960"/>
            <a:ext cx="7315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164592"/>
            <a:ext cx="1078992" cy="731520"/>
          </a:xfrm>
          <a:prstGeom prst="ellipse">
            <a:avLst/>
          </a:prstGeom>
          <a:noFill/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>
                <a:solidFill>
                  <a:srgbClr val="2D3748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 b="1">
                <a:solidFill>
                  <a:srgbClr val="1A365D"/>
                </a:solidFill>
                <a:latin typeface="Arial"/>
              </a:defRPr>
            </a:pPr>
            <a:r>
              <a:t>Zenith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51560"/>
            <a:ext cx="3383280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143000"/>
            <a:ext cx="31089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C05621"/>
                </a:solidFill>
                <a:latin typeface="Arial"/>
              </a:defRPr>
            </a:pPr>
            <a:r>
              <a:t>THE PROBLEM &amp; WHY IS THIS HARD?</a:t>
            </a:r>
          </a:p>
          <a:p>
            <a:pPr>
              <a:spcBef>
                <a:spcPts val="300"/>
              </a:spcBef>
              <a:defRPr sz="900" b="1">
                <a:solidFill>
                  <a:srgbClr val="0E1E40"/>
                </a:solidFill>
                <a:latin typeface="Arial"/>
              </a:defRPr>
            </a:pPr>
            <a:r>
              <a:t>• 1. Sun-Angle / Illumination Shifts</a:t>
            </a:r>
          </a:p>
          <a:p>
            <a:pPr>
              <a:spcAft>
                <a:spcPts val="200"/>
              </a:spcAft>
              <a:defRPr sz="800">
                <a:solidFill>
                  <a:srgbClr val="2D3748"/>
                </a:solidFill>
                <a:latin typeface="Arial"/>
              </a:defRPr>
            </a:pPr>
            <a:r>
              <a:t>Extreme solar angle shifts cause complete crater shadow inversions (bright-to-dark gradient reversal across identical topography).</a:t>
            </a:r>
          </a:p>
          <a:p>
            <a:pPr>
              <a:spcBef>
                <a:spcPts val="300"/>
              </a:spcBef>
              <a:defRPr sz="900" b="1">
                <a:solidFill>
                  <a:srgbClr val="0E1E40"/>
                </a:solidFill>
                <a:latin typeface="Arial"/>
              </a:defRPr>
            </a:pPr>
            <a:r>
              <a:t>• 2. Extreme Scale Disparities</a:t>
            </a:r>
          </a:p>
          <a:p>
            <a:pPr>
              <a:spcAft>
                <a:spcPts val="200"/>
              </a:spcAft>
              <a:defRPr sz="800">
                <a:solidFill>
                  <a:srgbClr val="2D3748"/>
                </a:solidFill>
                <a:latin typeface="Arial"/>
              </a:defRPr>
            </a:pPr>
            <a:r>
              <a:t>Resolutions span 0.25 m (OHRC) → 5.0 m (TMC-2) → 80 m (IIRS) per pixel (up to 320x scale gap exceeding standard matchers).</a:t>
            </a:r>
          </a:p>
          <a:p>
            <a:pPr>
              <a:spcBef>
                <a:spcPts val="300"/>
              </a:spcBef>
              <a:defRPr sz="900" b="1">
                <a:solidFill>
                  <a:srgbClr val="0E1E40"/>
                </a:solidFill>
                <a:latin typeface="Arial"/>
              </a:defRPr>
            </a:pPr>
            <a:r>
              <a:t>• 3. Cross-Modal Sensor Physics</a:t>
            </a:r>
          </a:p>
          <a:p>
            <a:pPr>
              <a:spcAft>
                <a:spcPts val="200"/>
              </a:spcAft>
              <a:defRPr sz="800">
                <a:solidFill>
                  <a:srgbClr val="2D3748"/>
                </a:solidFill>
                <a:latin typeface="Arial"/>
              </a:defRPr>
            </a:pPr>
            <a:r>
              <a:t>Panchromatic optical vs. 256-band hyperspectral cubes with non-linear radiometric response functions.</a:t>
            </a:r>
          </a:p>
          <a:p>
            <a:pPr>
              <a:spcBef>
                <a:spcPts val="300"/>
              </a:spcBef>
              <a:defRPr sz="900" b="1">
                <a:solidFill>
                  <a:srgbClr val="0E1E40"/>
                </a:solidFill>
                <a:latin typeface="Arial"/>
              </a:defRPr>
            </a:pPr>
            <a:r>
              <a:t>• Result of Conventional CV</a:t>
            </a:r>
          </a:p>
          <a:p>
            <a:pPr>
              <a:spcAft>
                <a:spcPts val="200"/>
              </a:spcAft>
              <a:defRPr sz="800">
                <a:solidFill>
                  <a:srgbClr val="2D3748"/>
                </a:solidFill>
                <a:latin typeface="Arial"/>
              </a:defRPr>
            </a:pPr>
            <a:r>
              <a:t>Standard SIFT/ORB algorithms fail, produce severe spatial clustering, or output high false-positive rates.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1051560"/>
            <a:ext cx="42062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143000"/>
            <a:ext cx="3931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1A365D"/>
                </a:solidFill>
                <a:latin typeface="Arial"/>
              </a:defRPr>
            </a:pPr>
            <a:r>
              <a:t>OUR SOLUTION: 6-STAGE ZENITH ARCHITECTURE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B6CB0"/>
                </a:solidFill>
                <a:latin typeface="Arial"/>
              </a:rPr>
              <a:t>▶ ADAPT: </a:t>
            </a:r>
            <a:r>
              <a:rPr sz="800">
                <a:solidFill>
                  <a:srgbClr val="2D3748"/>
                </a:solidFill>
                <a:latin typeface="Arial"/>
              </a:rPr>
              <a:t>Make source &amp; reference imagery comparable using sensor, metadata, illumination &amp; scale information.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B6CB0"/>
                </a:solidFill>
                <a:latin typeface="Arial"/>
              </a:rPr>
              <a:t>▶ REPRESENT: </a:t>
            </a:r>
            <a:r>
              <a:rPr sz="800">
                <a:solidFill>
                  <a:srgbClr val="2D3748"/>
                </a:solidFill>
                <a:latin typeface="Arial"/>
              </a:rPr>
              <a:t>Extract stable structural features via 2D Log-Gabor Phase Congruency &amp; multi-scale pyramids.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B6CB0"/>
                </a:solidFill>
                <a:latin typeface="Arial"/>
              </a:rPr>
              <a:t>▶ MATCH: </a:t>
            </a:r>
            <a:r>
              <a:rPr sz="800">
                <a:solidFill>
                  <a:srgbClr val="2D3748"/>
                </a:solidFill>
                <a:latin typeface="Arial"/>
              </a:rPr>
              <a:t>Generate candidate correspondences via hybrid ensemble (RootSIFT + LoFTR deep transformer fallback).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B6CB0"/>
                </a:solidFill>
                <a:latin typeface="Arial"/>
              </a:rPr>
              <a:t>▶ VERIFY: </a:t>
            </a:r>
            <a:r>
              <a:rPr sz="800">
                <a:solidFill>
                  <a:srgbClr val="2D3748"/>
                </a:solidFill>
                <a:latin typeface="Arial"/>
              </a:rPr>
              <a:t>Use USAC_MAGSAC++ and geometric consistency to reject false matches and estimate 8-DOF Homography H.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B6CB0"/>
                </a:solidFill>
                <a:latin typeface="Arial"/>
              </a:rPr>
              <a:t>▶ REFINE: </a:t>
            </a:r>
            <a:r>
              <a:rPr sz="800">
                <a:solidFill>
                  <a:srgbClr val="2D3748"/>
                </a:solidFill>
                <a:latin typeface="Arial"/>
              </a:rPr>
              <a:t>Select spatially distributed reliable matches (4x4 grid) and refine locations to sub-pixel precision.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B6CB0"/>
                </a:solidFill>
                <a:latin typeface="Arial"/>
              </a:rPr>
              <a:t>▶ OUTPUT: </a:t>
            </a:r>
            <a:r>
              <a:rPr sz="800">
                <a:solidFill>
                  <a:srgbClr val="2D3748"/>
                </a:solidFill>
                <a:latin typeface="Arial"/>
              </a:rPr>
              <a:t>Return registered image (Lanczos-4), verified match points, RMSE, inlier ratio, coverage &amp; confidence 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1051560"/>
            <a:ext cx="3108960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1143000"/>
            <a:ext cx="2834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E1E40"/>
                </a:solidFill>
                <a:latin typeface="Arial"/>
              </a:defRPr>
            </a:pPr>
            <a:r>
              <a:t>WHY ZENITH? KEY INNOVATIONS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22543D"/>
                </a:solidFill>
                <a:latin typeface="Arial"/>
              </a:rPr>
              <a:t>✓ Physics &amp; Metadata Aware: </a:t>
            </a:r>
            <a:r>
              <a:rPr sz="750">
                <a:solidFill>
                  <a:srgbClr val="2D3748"/>
                </a:solidFill>
                <a:latin typeface="Arial"/>
              </a:rPr>
              <a:t>Integrates PDS4 sensor parameters, sun angles, and PCA spectral reduction.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22543D"/>
                </a:solidFill>
                <a:latin typeface="Arial"/>
              </a:rPr>
              <a:t>✓ Illumination Robust: </a:t>
            </a:r>
            <a:r>
              <a:rPr sz="750">
                <a:solidFill>
                  <a:srgbClr val="2D3748"/>
                </a:solidFill>
                <a:latin typeface="Arial"/>
              </a:rPr>
              <a:t>Phase congruency extracts Fourier harmonic alignment invariant to lighting.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22543D"/>
                </a:solidFill>
                <a:latin typeface="Arial"/>
              </a:rPr>
              <a:t>✓ Hybrid Matcher Consensus: </a:t>
            </a:r>
            <a:r>
              <a:rPr sz="750">
                <a:solidFill>
                  <a:srgbClr val="2D3748"/>
                </a:solidFill>
                <a:latin typeface="Arial"/>
              </a:rPr>
              <a:t>Combines high-speed RootSIFT with deep LoFTR transformer fallback.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22543D"/>
                </a:solidFill>
                <a:latin typeface="Arial"/>
              </a:rPr>
              <a:t>✓ Spatially Uniform Matches: </a:t>
            </a:r>
            <a:r>
              <a:rPr sz="750">
                <a:solidFill>
                  <a:srgbClr val="2D3748"/>
                </a:solidFill>
                <a:latin typeface="Arial"/>
              </a:rPr>
              <a:t>4x4 spatial grid balancing eliminates single-crater clustering.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22543D"/>
                </a:solidFill>
                <a:latin typeface="Arial"/>
              </a:rPr>
              <a:t>✓ Sub-Pixel Refinement: </a:t>
            </a:r>
            <a:r>
              <a:rPr sz="750">
                <a:solidFill>
                  <a:srgbClr val="2D3748"/>
                </a:solidFill>
                <a:latin typeface="Arial"/>
              </a:rPr>
              <a:t>Förstner gradient structure tensors achieve sub-pixel accuracy (&lt; 0.5 px).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22543D"/>
                </a:solidFill>
                <a:latin typeface="Arial"/>
              </a:rPr>
              <a:t>✓ Confidence-Aware Output: </a:t>
            </a:r>
            <a:r>
              <a:rPr sz="750">
                <a:solidFill>
                  <a:srgbClr val="2D3748"/>
                </a:solidFill>
                <a:latin typeface="Arial"/>
              </a:rPr>
              <a:t>Decision Engine certifies result: REGISTERED / LOW_CONFIDENCE / FAILED.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22543D"/>
                </a:solidFill>
                <a:latin typeface="Arial"/>
              </a:rPr>
              <a:t>✓ Scientific Safety: </a:t>
            </a:r>
            <a:r>
              <a:rPr sz="750">
                <a:solidFill>
                  <a:srgbClr val="2D3748"/>
                </a:solidFill>
                <a:latin typeface="Arial"/>
              </a:rPr>
              <a:t>Strictly non-generative; raw registered output preserved with zero hallucination.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00200" y="16459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E1E40"/>
                </a:solidFill>
                <a:latin typeface="Arial"/>
              </a:defRPr>
            </a:pPr>
            <a:r>
              <a:t>TECHNICAL APPROACH</a:t>
            </a:r>
          </a:p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Technologies to be used &amp; Implementation Methodology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7315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164592"/>
            <a:ext cx="1078992" cy="731520"/>
          </a:xfrm>
          <a:prstGeom prst="ellipse">
            <a:avLst/>
          </a:prstGeom>
          <a:noFill/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>
                <a:solidFill>
                  <a:srgbClr val="2D3748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 b="1">
                <a:solidFill>
                  <a:srgbClr val="1A365D"/>
                </a:solidFill>
                <a:latin typeface="Arial"/>
              </a:defRPr>
            </a:pPr>
            <a:r>
              <a:t>Zenith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051560"/>
            <a:ext cx="5440680" cy="658368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1088136"/>
            <a:ext cx="521208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E1E40"/>
                </a:solidFill>
                <a:latin typeface="Arial"/>
              </a:defRPr>
            </a:pPr>
            <a:r>
              <a:t>▶ INPUT PAIR</a:t>
            </a:r>
          </a:p>
          <a:p>
            <a:pPr>
              <a:defRPr sz="800">
                <a:solidFill>
                  <a:srgbClr val="2D3748"/>
                </a:solidFill>
                <a:latin typeface="Arial"/>
              </a:defRPr>
            </a:pPr>
            <a:r>
              <a:t>Source (OHRC / TMC-2 / IIRS) + Reference Base Map (LROC NAC / TMC DEM / Synthetic)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783080"/>
            <a:ext cx="5440680" cy="658368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1819656"/>
            <a:ext cx="521208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1A365D"/>
                </a:solidFill>
                <a:latin typeface="Arial"/>
              </a:defRPr>
            </a:pPr>
            <a:r>
              <a:t>▶ 1. ADAPT</a:t>
            </a:r>
          </a:p>
          <a:p>
            <a:pPr>
              <a:defRPr sz="800">
                <a:solidFill>
                  <a:srgbClr val="2D3748"/>
                </a:solidFill>
                <a:latin typeface="Arial"/>
              </a:defRPr>
            </a:pPr>
            <a:r>
              <a:t>Radiometric 1-99% quantile scaling, sensor bit-depth normalization, IIRS 256-band PCA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14600"/>
            <a:ext cx="5440680" cy="658368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551176"/>
            <a:ext cx="521208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1A365D"/>
                </a:solidFill>
                <a:latin typeface="Arial"/>
              </a:defRPr>
            </a:pPr>
            <a:r>
              <a:t>▶ 2. REPRESENT</a:t>
            </a:r>
          </a:p>
          <a:p>
            <a:pPr>
              <a:defRPr sz="800">
                <a:solidFill>
                  <a:srgbClr val="2D3748"/>
                </a:solidFill>
                <a:latin typeface="Arial"/>
              </a:defRPr>
            </a:pPr>
            <a:r>
              <a:t>2D Log-Gabor Phase Congruency (Kovesi, 3 scales, 6 orientations) + Multi-Scale Pyramid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46120"/>
            <a:ext cx="5440680" cy="658368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282696"/>
            <a:ext cx="521208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1A365D"/>
                </a:solidFill>
                <a:latin typeface="Arial"/>
              </a:defRPr>
            </a:pPr>
            <a:r>
              <a:t>▶ 3. MATCH</a:t>
            </a:r>
          </a:p>
          <a:p>
            <a:pPr>
              <a:defRPr sz="800">
                <a:solidFill>
                  <a:srgbClr val="2D3748"/>
                </a:solidFill>
                <a:latin typeface="Arial"/>
              </a:defRPr>
            </a:pPr>
            <a:r>
              <a:t>Multi-Matcher Ensemble: Primary RootSIFT (Hellinger kernel) + LoFTR Deep Transformer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051560"/>
            <a:ext cx="5440680" cy="658368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1088136"/>
            <a:ext cx="521208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1A365D"/>
                </a:solidFill>
                <a:latin typeface="Arial"/>
              </a:defRPr>
            </a:pPr>
            <a:r>
              <a:t>▶ 4. VERIFY</a:t>
            </a:r>
          </a:p>
          <a:p>
            <a:pPr>
              <a:defRPr sz="800">
                <a:solidFill>
                  <a:srgbClr val="2D3748"/>
                </a:solidFill>
                <a:latin typeface="Arial"/>
              </a:defRPr>
            </a:pPr>
            <a:r>
              <a:t>USAC_MAGSAC++ robust estimation of 8-DOF Homography H (adaptive noise σ = 3.0 px)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783080"/>
            <a:ext cx="5440680" cy="658368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1819656"/>
            <a:ext cx="521208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1A365D"/>
                </a:solidFill>
                <a:latin typeface="Arial"/>
              </a:defRPr>
            </a:pPr>
            <a:r>
              <a:t>▶ 5. REFINE</a:t>
            </a:r>
          </a:p>
          <a:p>
            <a:pPr>
              <a:defRPr sz="800">
                <a:solidFill>
                  <a:srgbClr val="2D3748"/>
                </a:solidFill>
                <a:latin typeface="Arial"/>
              </a:defRPr>
            </a:pPr>
            <a:r>
              <a:t>Spatial 4x4 Grid Inlier Balancing (prevents cluster collapse) + Förstner Structure Tensor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514600"/>
            <a:ext cx="5440680" cy="658368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2551176"/>
            <a:ext cx="521208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1A365D"/>
                </a:solidFill>
                <a:latin typeface="Arial"/>
              </a:defRPr>
            </a:pPr>
            <a:r>
              <a:t>▶ 6. EVALUATE</a:t>
            </a:r>
          </a:p>
          <a:p>
            <a:pPr>
              <a:defRPr sz="800">
                <a:solidFill>
                  <a:srgbClr val="2D3748"/>
                </a:solidFill>
                <a:latin typeface="Arial"/>
              </a:defRPr>
            </a:pPr>
            <a:r>
              <a:t>Decision Engine: Inlier Ratio (≥35%), Spatial Coverage (≥0.35), Reprojection Residuals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246120"/>
            <a:ext cx="5440680" cy="658368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3282696"/>
            <a:ext cx="521208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E1E40"/>
                </a:solidFill>
                <a:latin typeface="Arial"/>
              </a:defRPr>
            </a:pPr>
            <a:r>
              <a:t>▶ 7. OUTPUT</a:t>
            </a:r>
          </a:p>
          <a:p>
            <a:pPr>
              <a:defRPr sz="800">
                <a:solidFill>
                  <a:srgbClr val="2D3748"/>
                </a:solidFill>
                <a:latin typeface="Arial"/>
              </a:defRPr>
            </a:pPr>
            <a:r>
              <a:t>Lanczos-4 Sub-Pixel Warping → Raw Registered Output + JSON Telemetry + Match 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023360"/>
            <a:ext cx="11064240" cy="685800"/>
          </a:xfrm>
          <a:prstGeom prst="roundRect">
            <a:avLst/>
          </a:prstGeom>
          <a:solidFill>
            <a:srgbClr val="E6FFF5"/>
          </a:solidFill>
          <a:ln w="12700">
            <a:solidFill>
              <a:srgbClr val="225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0690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22543D"/>
                </a:solidFill>
                <a:latin typeface="Arial"/>
              </a:rPr>
              <a:t>CORE DESIGN PRINCIPLE: </a:t>
            </a:r>
            <a:r>
              <a:rPr sz="900" b="1">
                <a:solidFill>
                  <a:srgbClr val="0E1E40"/>
                </a:solidFill>
                <a:latin typeface="Arial"/>
              </a:rPr>
              <a:t>AI / feature matching proposes correspondences → Geometry verifies them → Spatial balancing improves coverage → Refinement improves precision → Quality metrics decide whether the result is trustworthy.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00600"/>
            <a:ext cx="11064240" cy="1508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64608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1E40"/>
                </a:solidFill>
                <a:latin typeface="Arial"/>
              </a:defRPr>
            </a:pPr>
            <a:r>
              <a:t>IMPLEMENTATION TECHNOLOGY STACK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1">
                <a:solidFill>
                  <a:srgbClr val="1A365D"/>
                </a:solidFill>
                <a:latin typeface="Arial"/>
              </a:rPr>
              <a:t>• Core &amp; Computer Vision: </a:t>
            </a:r>
            <a:r>
              <a:rPr sz="850">
                <a:solidFill>
                  <a:srgbClr val="2D3748"/>
                </a:solidFill>
                <a:latin typeface="Arial"/>
              </a:rPr>
              <a:t>Python 3.10+, OpenCV (USAC_MAGSAC++, Lanczos-4, CLAHE), NumPy, SciPy, scikit-image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1">
                <a:solidFill>
                  <a:srgbClr val="1A365D"/>
                </a:solidFill>
                <a:latin typeface="Arial"/>
              </a:rPr>
              <a:t>• Deep Learning &amp; Matchers: </a:t>
            </a:r>
            <a:r>
              <a:rPr sz="850">
                <a:solidFill>
                  <a:srgbClr val="2D3748"/>
                </a:solidFill>
                <a:latin typeface="Arial"/>
              </a:rPr>
              <a:t>PyTorch, LoFTR Transformer (Local Feature TRansformer), Kornia, FLANN Matcher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1">
                <a:solidFill>
                  <a:srgbClr val="1A365D"/>
                </a:solidFill>
                <a:latin typeface="Arial"/>
              </a:rPr>
              <a:t>• Geospatial &amp; Metadata: </a:t>
            </a:r>
            <a:r>
              <a:rPr sz="850">
                <a:solidFill>
                  <a:srgbClr val="2D3748"/>
                </a:solidFill>
                <a:latin typeface="Arial"/>
              </a:rPr>
              <a:t>GDAL, Rasterio, Planetary Data System (PDS4/LBL) parser, IAU Lunar Reference Models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1">
                <a:solidFill>
                  <a:srgbClr val="1A365D"/>
                </a:solidFill>
                <a:latin typeface="Arial"/>
              </a:rPr>
              <a:t>• Interface &amp; Demonstration: </a:t>
            </a:r>
            <a:r>
              <a:rPr sz="850">
                <a:solidFill>
                  <a:srgbClr val="2D3748"/>
                </a:solidFill>
                <a:latin typeface="Arial"/>
              </a:rPr>
              <a:t>Streamlit Mission Control UI, Interactive Comparison Slider, Matplotlib, ReportLab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0200" y="16459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E1E40"/>
                </a:solidFill>
                <a:latin typeface="Arial"/>
              </a:defRPr>
            </a:pPr>
            <a:r>
              <a:t>FEASIBILITY AND VIABILITY</a:t>
            </a:r>
          </a:p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Analysis of Feasibility, Potential Challenges &amp; Risk Mitigation Strategies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37960"/>
            <a:ext cx="7315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164592"/>
            <a:ext cx="1078992" cy="731520"/>
          </a:xfrm>
          <a:prstGeom prst="ellipse">
            <a:avLst/>
          </a:prstGeom>
          <a:noFill/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>
                <a:solidFill>
                  <a:srgbClr val="2D3748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 b="1">
                <a:solidFill>
                  <a:srgbClr val="1A365D"/>
                </a:solidFill>
                <a:latin typeface="Arial"/>
              </a:defRPr>
            </a:pPr>
            <a:r>
              <a:t>Zenith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51560"/>
            <a:ext cx="6949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143000"/>
            <a:ext cx="66751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365D"/>
                </a:solidFill>
                <a:latin typeface="Arial"/>
              </a:defRPr>
            </a:pPr>
            <a:r>
              <a:t>CHALLENGES &amp; ZENITH TECHNICAL MITIGATION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• Sun-Angle / Shadow Shifts: </a:t>
            </a:r>
            <a:r>
              <a:rPr sz="850">
                <a:solidFill>
                  <a:srgbClr val="2D3748"/>
                </a:solidFill>
                <a:latin typeface="Arial"/>
              </a:rPr>
              <a:t>2D Log-Gabor Phase Congruency → Fourier harmonic phase alignment is completely contrast/brightness invariant.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• Extreme Scale Gap (320x): </a:t>
            </a:r>
            <a:r>
              <a:rPr sz="850">
                <a:solidFill>
                  <a:srgbClr val="2D3748"/>
                </a:solidFill>
                <a:latin typeface="Arial"/>
              </a:rPr>
              <a:t>Multi-Scale Pyramids &amp; Hierarchy → Multi-resolution octave decimation handles large scale differences progressively.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• Cross-Modal Mismatch: </a:t>
            </a:r>
            <a:r>
              <a:rPr sz="850">
                <a:solidFill>
                  <a:srgbClr val="2D3748"/>
                </a:solidFill>
                <a:latin typeface="Arial"/>
              </a:rPr>
              <a:t>PCA Reduction + Structural Maps → Matches shared surface topography without requiring raw intensity equivalence.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• Severe Outlier Matches: </a:t>
            </a:r>
            <a:r>
              <a:rPr sz="850">
                <a:solidFill>
                  <a:srgbClr val="2D3748"/>
                </a:solidFill>
                <a:latin typeface="Arial"/>
              </a:rPr>
              <a:t>USAC_MAGSAC++ Estimator → Marginalizes over continuous noise scale; tolerates up to 85% outlier rates.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• Match Clustering Collapse: </a:t>
            </a:r>
            <a:r>
              <a:rPr sz="850">
                <a:solidFill>
                  <a:srgbClr val="2D3748"/>
                </a:solidFill>
                <a:latin typeface="Arial"/>
              </a:rPr>
              <a:t>4x4 Spatial Grid Balancing → Enforces distributed inliers across 16 cells; prevents single-crater bias.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• Low-Texture Maria Basins: </a:t>
            </a:r>
            <a:r>
              <a:rPr sz="850">
                <a:solidFill>
                  <a:srgbClr val="2D3748"/>
                </a:solidFill>
                <a:latin typeface="Arial"/>
              </a:rPr>
              <a:t>LoFTR Transformer Fallback → Global contextual cross-attention finds matches where local gradients fail.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• Large Swath Computation: </a:t>
            </a:r>
            <a:r>
              <a:rPr sz="850">
                <a:solidFill>
                  <a:srgbClr val="2D3748"/>
                </a:solidFill>
                <a:latin typeface="Arial"/>
              </a:rPr>
              <a:t>Tile-Based Processing &amp; FP16 → Memory-capped processing (&lt; 1.4 GB VRAM) with fast CPU fallback.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051560"/>
            <a:ext cx="3931920" cy="2971800"/>
          </a:xfrm>
          <a:prstGeom prst="roundRect">
            <a:avLst/>
          </a:prstGeom>
          <a:solidFill>
            <a:srgbClr val="E6FFF5"/>
          </a:solidFill>
          <a:ln w="12700">
            <a:solidFill>
              <a:srgbClr val="225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1143000"/>
            <a:ext cx="3657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2543D"/>
                </a:solidFill>
                <a:latin typeface="Arial"/>
              </a:defRPr>
            </a:pPr>
            <a:r>
              <a:t>CURRENT PROTOTYPE STATUS (DEMONSTRATED)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✓ End-to-End Pipeline: </a:t>
            </a:r>
            <a:r>
              <a:rPr sz="800">
                <a:solidFill>
                  <a:srgbClr val="2D3748"/>
                </a:solidFill>
                <a:latin typeface="Arial"/>
              </a:rPr>
              <a:t>Verified across MVP1–MVP8 test runners with 100% test pass rate.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✓ Measured Sub-Pixel RMSE: </a:t>
            </a:r>
            <a:r>
              <a:rPr sz="800">
                <a:solidFill>
                  <a:srgbClr val="2D3748"/>
                </a:solidFill>
                <a:latin typeface="Arial"/>
              </a:rPr>
              <a:t>0.154 px (Nominal Optical), 0.730 px (Difficult Terminator Ramp).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✓ Streamlit Web Interface: </a:t>
            </a:r>
            <a:r>
              <a:rPr sz="800">
                <a:solidFill>
                  <a:srgbClr val="2D3748"/>
                </a:solidFill>
                <a:latin typeface="Arial"/>
              </a:rPr>
              <a:t>Live Mission Control UI with interactive before/after split slider.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✓ Feature Alignment: </a:t>
            </a:r>
            <a:r>
              <a:rPr sz="800">
                <a:solidFill>
                  <a:srgbClr val="2D3748"/>
                </a:solidFill>
                <a:latin typeface="Arial"/>
              </a:rPr>
              <a:t>Spatially distributed inlier correspondence vector visualization.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✓ Raw Output Preserved: </a:t>
            </a:r>
            <a:r>
              <a:rPr sz="800">
                <a:solidFill>
                  <a:srgbClr val="2D3748"/>
                </a:solidFill>
                <a:latin typeface="Arial"/>
              </a:rPr>
              <a:t>Strictly non-generative; raw registered homography &amp; artifacts exported.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114800"/>
            <a:ext cx="3931920" cy="2194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187952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A365D"/>
                </a:solidFill>
                <a:latin typeface="Arial"/>
              </a:defRPr>
            </a:pPr>
            <a:r>
              <a:t>FUTURE VALIDATION &amp; DEPLOYMENT ROADMAP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1A365D"/>
                </a:solidFill>
                <a:latin typeface="Arial"/>
              </a:rPr>
              <a:t>• Expanded Chandrayaan-2 Dataset: </a:t>
            </a:r>
            <a:r>
              <a:rPr sz="800">
                <a:solidFill>
                  <a:srgbClr val="2D3748"/>
                </a:solidFill>
                <a:latin typeface="Arial"/>
              </a:rPr>
              <a:t>Multi-orbit validation across wider lunar longitudes/latitudes.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1A365D"/>
                </a:solidFill>
                <a:latin typeface="Arial"/>
              </a:rPr>
              <a:t>• DEM-Assisted Geometry: </a:t>
            </a:r>
            <a:r>
              <a:rPr sz="800">
                <a:solidFill>
                  <a:srgbClr val="2D3748"/>
                </a:solidFill>
                <a:latin typeface="Arial"/>
              </a:rPr>
              <a:t>Integration with LOLA/TMC DEMs for extreme 3D relief correction.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1A365D"/>
                </a:solidFill>
                <a:latin typeface="Arial"/>
              </a:rPr>
              <a:t>• Space-Hardened FPGA Quantization: </a:t>
            </a:r>
            <a:r>
              <a:rPr sz="800">
                <a:solidFill>
                  <a:srgbClr val="2D3748"/>
                </a:solidFill>
                <a:latin typeface="Arial"/>
              </a:rPr>
              <a:t>INT8 execution targeted for onboard Terrain Relative Navigation.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0200" y="16459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E1E40"/>
                </a:solidFill>
                <a:latin typeface="Arial"/>
              </a:defRPr>
            </a:pPr>
            <a:r>
              <a:t>IMPACT AND BENEFITS</a:t>
            </a:r>
          </a:p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Potential Impact on Space Operations &amp; Multi-Dimensional Benefits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37960"/>
            <a:ext cx="7315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164592"/>
            <a:ext cx="1078992" cy="731520"/>
          </a:xfrm>
          <a:prstGeom prst="ellipse">
            <a:avLst/>
          </a:prstGeom>
          <a:noFill/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>
                <a:solidFill>
                  <a:srgbClr val="2D3748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 b="1">
                <a:solidFill>
                  <a:srgbClr val="1A365D"/>
                </a:solidFill>
                <a:latin typeface="Arial"/>
              </a:defRPr>
            </a:pPr>
            <a:r>
              <a:t>Zenith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51560"/>
            <a:ext cx="539496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143000"/>
            <a:ext cx="5120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365D"/>
                </a:solidFill>
                <a:latin typeface="Arial"/>
              </a:defRPr>
            </a:pPr>
            <a:r>
              <a:t>PROJECTED DELIVERABLES &amp; CAPABILITIES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1. Automated Lunar Registration: </a:t>
            </a:r>
            <a:r>
              <a:rPr sz="850">
                <a:solidFill>
                  <a:srgbClr val="2D3748"/>
                </a:solidFill>
                <a:latin typeface="Arial"/>
              </a:rPr>
              <a:t>Aligns difficult planetary images without relying entirely on manual ground control tie points.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2. Reliable Correspondences: </a:t>
            </a:r>
            <a:r>
              <a:rPr sz="850">
                <a:solidFill>
                  <a:srgbClr val="2D3748"/>
                </a:solidFill>
                <a:latin typeface="Arial"/>
              </a:rPr>
              <a:t>Automatically identifies geometrically consistent, outlier-free match points across disparate sensors.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3. Spatially Distributed Matches: </a:t>
            </a:r>
            <a:r>
              <a:rPr sz="850">
                <a:solidFill>
                  <a:srgbClr val="2D3748"/>
                </a:solidFill>
                <a:latin typeface="Arial"/>
              </a:rPr>
              <a:t>4x4 grid balancing ensures correspondences span the full terrain footprint rather than clustering.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4. Sub-Pixel Refinement: </a:t>
            </a:r>
            <a:r>
              <a:rPr sz="850">
                <a:solidFill>
                  <a:srgbClr val="2D3748"/>
                </a:solidFill>
                <a:latin typeface="Arial"/>
              </a:rPr>
              <a:t>Gradient structure tensor optimization achieves sub-pixel localization accuracy (&lt; 0.5 px).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5. Quality-Aware Output: </a:t>
            </a:r>
            <a:r>
              <a:rPr sz="850">
                <a:solidFill>
                  <a:srgbClr val="2D3748"/>
                </a:solidFill>
                <a:latin typeface="Arial"/>
              </a:rPr>
              <a:t>Delivers verified aligned image + full telemetry (RMSE, Inlier Ratio, Spatial Coverage, Confidence Status).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0E1E40"/>
                </a:solidFill>
                <a:latin typeface="Arial"/>
              </a:rPr>
              <a:t>6. Reusable Planetary Framework: </a:t>
            </a:r>
            <a:r>
              <a:rPr sz="850">
                <a:solidFill>
                  <a:srgbClr val="2D3748"/>
                </a:solidFill>
                <a:latin typeface="Arial"/>
              </a:rPr>
              <a:t>Modular open architecture adaptable to future ISRO and international deep space exploration missions.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51560"/>
            <a:ext cx="5394960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143000"/>
            <a:ext cx="5120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1E40"/>
                </a:solidFill>
                <a:latin typeface="Arial"/>
              </a:defRPr>
            </a:pPr>
            <a:r>
              <a:t>MULTI-SECTOR VALUE &amp; BENEFITS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50" b="1">
                <a:solidFill>
                  <a:srgbClr val="2B6CB0"/>
                </a:solidFill>
                <a:latin typeface="Arial"/>
              </a:rPr>
              <a:t>★ Scientific Value: </a:t>
            </a:r>
            <a:r>
              <a:rPr sz="850">
                <a:solidFill>
                  <a:srgbClr val="2D3748"/>
                </a:solidFill>
                <a:latin typeface="Arial"/>
              </a:rPr>
              <a:t>Enables precise co-registration of morphology (OHRC), topography (TMC-2), and mineralogy (IIRS) for landing site characterization (Chandrayaan-3/4, Artemis, Lunar South Pole water-ice mapping).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50" b="1">
                <a:solidFill>
                  <a:srgbClr val="2B6CB0"/>
                </a:solidFill>
                <a:latin typeface="Arial"/>
              </a:rPr>
              <a:t>★ Operational Value: </a:t>
            </a:r>
            <a:r>
              <a:rPr sz="850">
                <a:solidFill>
                  <a:srgbClr val="2D3748"/>
                </a:solidFill>
                <a:latin typeface="Arial"/>
              </a:rPr>
              <a:t>Can significantly reduce repetitive manual image-alignment effort for orbital cartographers, accelerating baseline mosaic generation at planetary data centers.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50" b="1">
                <a:solidFill>
                  <a:srgbClr val="2B6CB0"/>
                </a:solidFill>
                <a:latin typeface="Arial"/>
              </a:rPr>
              <a:t>★ Technical Value: </a:t>
            </a:r>
            <a:r>
              <a:rPr sz="850">
                <a:solidFill>
                  <a:srgbClr val="2D3748"/>
                </a:solidFill>
                <a:latin typeface="Arial"/>
              </a:rPr>
              <a:t>Provides measurable, explainable, and certified registration quality with autonomous confidence gates (eliminates undetected silent alignment errors).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50" b="1">
                <a:solidFill>
                  <a:srgbClr val="2B6CB0"/>
                </a:solidFill>
                <a:latin typeface="Arial"/>
              </a:rPr>
              <a:t>★ Strategic &amp; Educational: </a:t>
            </a:r>
            <a:r>
              <a:rPr sz="850">
                <a:solidFill>
                  <a:srgbClr val="2D3748"/>
                </a:solidFill>
                <a:latin typeface="Arial"/>
              </a:rPr>
              <a:t>Strengthens Indian space-technology capabilities in autonomous computer vision and remote sensing, demonstrating indigenous student innovation in planetary science.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731520"/>
                <a:gridCol w="731520"/>
                <a:gridCol w="1280160"/>
              </a:tblGrid>
              <a:tr h="537210"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36576" marR="36576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SIFT</a:t>
                      </a:r>
                    </a:p>
                  </a:txBody>
                  <a:tcPr marL="36576" marR="36576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LoFTR</a:t>
                      </a:r>
                    </a:p>
                  </a:txBody>
                  <a:tcPr marL="36576" marR="36576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RIFT</a:t>
                      </a:r>
                    </a:p>
                  </a:txBody>
                  <a:tcPr marL="36576" marR="36576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ZENITH</a:t>
                      </a:r>
                    </a:p>
                  </a:txBody>
                  <a:tcPr marL="36576" marR="36576" marT="27432" marB="27432" anchor="ctr">
                    <a:solidFill>
                      <a:srgbClr val="1A365D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Illumination / Shadow Invariance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Fails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Partial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Superior (Phase Congruency)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Scale Disparities (&gt; 2x)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Weak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 (Pyramid+Ensemble)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Cross-Modal / Hyperspectral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Limited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Good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Robust (PCA+Structural)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Sub-Pixel Refinement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Coarse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Approx.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Structure Tensor (&lt;0.5px)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Robust Outlier Rejection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USAC_MAGSAC++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Spatial Match Distribution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4x4 Grid Balancing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Autonomous Quality Gate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Decision Engine (3-State)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989320" y="1481328"/>
          <a:ext cx="5486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731520"/>
                <a:gridCol w="731520"/>
                <a:gridCol w="1280160"/>
              </a:tblGrid>
              <a:tr h="537210"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36576" marR="36576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SIFT</a:t>
                      </a:r>
                    </a:p>
                  </a:txBody>
                  <a:tcPr marL="36576" marR="36576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LoFTR</a:t>
                      </a:r>
                    </a:p>
                  </a:txBody>
                  <a:tcPr marL="36576" marR="36576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RIFT</a:t>
                      </a:r>
                    </a:p>
                  </a:txBody>
                  <a:tcPr marL="36576" marR="36576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ZENITH</a:t>
                      </a:r>
                    </a:p>
                  </a:txBody>
                  <a:tcPr marL="36576" marR="36576" marT="27432" marB="27432" anchor="ctr">
                    <a:solidFill>
                      <a:srgbClr val="1A365D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Illumination / Shadow Invariance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Fails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Partial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Superior (Phase Congruency)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Scale Disparities (&gt; 2x)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Weak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 (Pyramid+Ensemble)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Cross-Modal / Hyperspectral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Limited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Good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Robust (PCA+Structural)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Sub-Pixel Refinement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Coarse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Approx.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Structure Tensor (&lt;0.5px)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Robust Outlier Rejection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USAC_MAGSAC++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Spatial Match Distribution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4x4 Grid Balancing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Autonomous Quality Gate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Decision Engine (3-State)</a:t>
                      </a:r>
                    </a:p>
                  </a:txBody>
                  <a:tcPr marL="36576" marR="36576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989320" y="1536192"/>
          <a:ext cx="5486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731520"/>
                <a:gridCol w="731520"/>
                <a:gridCol w="1280160"/>
              </a:tblGrid>
              <a:tr h="520065"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SIFT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LoFTR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RIFT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ZENITH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Illumination / Shadow Invariance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Fails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Partial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Superior (Phase Congruency)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Scale Disparities (&gt; 2x)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Weak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 (Pyramid+Ensemble)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Cross-Modal / Hyperspectral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Limited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Good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Robust (PCA+Structural)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Sub-Pixel Refinement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Coarse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Approx.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Structure Tensor (&lt;0.5px)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Robust Outlier Rejection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USAC_MAGSAC++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Spatial Match Distribution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4x4 Grid Balancing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Autonomous Quality Gate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Decision Engine (3-State)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5989320" y="1572768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731520"/>
                <a:gridCol w="731520"/>
                <a:gridCol w="128016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SIFT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LoFTR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RIFT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ZENITH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Illumination / Shadow Invariance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Fails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Partial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Superior (Phase Congruency)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Scale Disparities (&gt; 2x)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Weak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 (Pyramid+Ensemble)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Cross-Modal / Hyperspectral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Limited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Good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Robust (PCA+Structural)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Sub-Pixel Refinement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Coarse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Approx.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Structure Tensor (&lt;0.5px)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Robust Outlier Rejection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USAC_MAGSAC++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Spatial Match Distribution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4x4 Grid Balancing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Autonomous Quality Gate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Decision Engine (3-State)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5989320" y="1609344"/>
          <a:ext cx="54864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731520"/>
                <a:gridCol w="731520"/>
                <a:gridCol w="1280160"/>
              </a:tblGrid>
              <a:tr h="508635"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SIFT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LoFTR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RIFT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ZENITH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Illumination / Shadow Invariance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Fails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Partial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Superior (Phase Congruency)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Scale Disparities (&gt; 2x)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Weak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 (Pyramid+Ensemble)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Cross-Modal / Hyperspectral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Limited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Good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Robust (PCA+Structural)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Sub-Pixel Refinement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Coarse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Approx.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Structure Tensor (&lt;0.5px)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Robust Outlier Rejection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USAC_MAGSAC++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Spatial Match Distribution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4x4 Grid Balancing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Autonomous Quality Gate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Decision Engine (3-State)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5989320" y="1682496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731520"/>
                <a:gridCol w="73152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SIFT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LoFTR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RIFT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ZENITH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Illumination / Shadow Invariance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Fails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Partial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Superior (Phase Congruency)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Scale Disparities (&gt; 2x)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Weak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 (Pyramid+Ensemble)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Cross-Modal / Hyperspectral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Limited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Good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Robust (PCA+Structural)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Sub-Pixel Refinement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Coarse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Approx.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Structure Tensor (&lt;0.5px)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Robust Outlier Rejection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USAC_MAGSAC++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Spatial Match Distribution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4x4 Grid Balancing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Autonomous Quality Gate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Decision Engine (3-State)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1600200" y="16459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E1E40"/>
                </a:solidFill>
                <a:latin typeface="Arial"/>
              </a:defRPr>
            </a:pPr>
            <a:r>
              <a:t>RESEARCH AND REFERENCES</a:t>
            </a:r>
          </a:p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Details / Links of Reference Literature and Scientific Grounding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653796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72800" y="6537960"/>
            <a:ext cx="7315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7" name="Oval 76"/>
          <p:cNvSpPr/>
          <p:nvPr/>
        </p:nvSpPr>
        <p:spPr>
          <a:xfrm>
            <a:off x="365760" y="164592"/>
            <a:ext cx="1078992" cy="731520"/>
          </a:xfrm>
          <a:prstGeom prst="ellipse">
            <a:avLst/>
          </a:prstGeom>
          <a:noFill/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>
                <a:solidFill>
                  <a:srgbClr val="2D3748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 b="1">
                <a:solidFill>
                  <a:srgbClr val="1A365D"/>
                </a:solidFill>
                <a:latin typeface="Arial"/>
              </a:defRPr>
            </a:pPr>
            <a:r>
              <a:t>Zenith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1024128"/>
            <a:ext cx="5120640" cy="5303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1261872"/>
            <a:ext cx="4846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1A365D"/>
                </a:solidFill>
                <a:latin typeface="Arial"/>
              </a:defRPr>
            </a:pPr>
            <a:r>
              <a:t>PRIMARY RESEARCH &amp; DATA SOURCES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[1] ISRO / ISSDC </a:t>
            </a:r>
            <a:r>
              <a:rPr sz="750">
                <a:solidFill>
                  <a:srgbClr val="2D3748"/>
                </a:solidFill>
                <a:latin typeface="Arial"/>
              </a:rPr>
              <a:t>Chandrayaan-2 Data Explorer &amp; Payload Documentation (OHRC 0.25m, TMC-2 5m, IIRS 80m), PRADAN Archive.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[2] NASA PDS / LROC </a:t>
            </a:r>
            <a:r>
              <a:rPr sz="750">
                <a:solidFill>
                  <a:srgbClr val="2D3748"/>
                </a:solidFill>
                <a:latin typeface="Arial"/>
              </a:rPr>
              <a:t>Lunar Reconnaissance Orbiter Camera Data Archive &amp; USGS Astrogeology ISIS Documentation.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[3] Kovesi, P. (1999/2003) </a:t>
            </a:r>
            <a:r>
              <a:rPr sz="750">
                <a:solidFill>
                  <a:srgbClr val="2D3748"/>
                </a:solidFill>
                <a:latin typeface="Arial"/>
              </a:rPr>
              <a:t>"Image Features From Phase Congruency," Videre / DICTA (Illumination-invariant harmonic model).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[4] Lowe, D. G. (2004) </a:t>
            </a:r>
            <a:r>
              <a:rPr sz="750">
                <a:solidFill>
                  <a:srgbClr val="2D3748"/>
                </a:solidFill>
                <a:latin typeface="Arial"/>
              </a:rPr>
              <a:t>"Distinctive Image Features from Scale-Invariant Keypoints (SIFT)," IJCV.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[5] Arandjelović &amp; Zisserman (2012) </a:t>
            </a:r>
            <a:r>
              <a:rPr sz="750">
                <a:solidFill>
                  <a:srgbClr val="2D3748"/>
                </a:solidFill>
                <a:latin typeface="Arial"/>
              </a:rPr>
              <a:t>"Three things everyone should know to improve object retrieval (RootSIFT)," CVPR.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[6] Sun, J. et al. (2021) </a:t>
            </a:r>
            <a:r>
              <a:rPr sz="750">
                <a:solidFill>
                  <a:srgbClr val="2D3748"/>
                </a:solidFill>
                <a:latin typeface="Arial"/>
              </a:rPr>
              <a:t>"LoFTR: Detector-Free Local Feature Matching with Transformers," IEEE/CVF CVPR.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[7] Barath, D. et al. (2020) </a:t>
            </a:r>
            <a:r>
              <a:rPr sz="750">
                <a:solidFill>
                  <a:srgbClr val="2D3748"/>
                </a:solidFill>
                <a:latin typeface="Arial"/>
              </a:rPr>
              <a:t>"MAGSAC++, a Fast, Reliable and Accurate Robust Estimator," IEEE/CVF CVPR.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E1E40"/>
                </a:solidFill>
                <a:latin typeface="Arial"/>
              </a:rPr>
              <a:t>[8] Li, J. et al. (2020) </a:t>
            </a:r>
            <a:r>
              <a:rPr sz="750">
                <a:solidFill>
                  <a:srgbClr val="2D3748"/>
                </a:solidFill>
                <a:latin typeface="Arial"/>
              </a:rPr>
              <a:t>"RIFT: Multi-Modal Image Matching Based on Radiation-Variation Insensitive Feature Transform," IEEE TIP.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52160" y="1024128"/>
            <a:ext cx="57607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89320" y="117043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1A365D"/>
                </a:solidFill>
                <a:latin typeface="Arial"/>
              </a:defRPr>
            </a:pPr>
            <a:r>
              <a:t>CAPABILITY &amp; BENCHMARK COMPARISON MATRIX</a:t>
            </a:r>
          </a:p>
        </p:txBody>
      </p:sp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5989320" y="1572768"/>
          <a:ext cx="5486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731520"/>
                <a:gridCol w="731520"/>
                <a:gridCol w="1280160"/>
              </a:tblGrid>
              <a:tr h="520065"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SIFT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LoFTR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RIFT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ZENITH</a:t>
                      </a:r>
                    </a:p>
                  </a:txBody>
                  <a:tcPr marL="36576" marR="36576" marT="18288" marB="18288" anchor="ctr">
                    <a:solidFill>
                      <a:srgbClr val="1A365D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Illumination / Shadow Invariance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Fails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Partial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Superior (Phase Congruency)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Scale Disparities (&gt; 2x)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Weak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Moderate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High (Pyramid+Ensemble)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Cross-Modal / Hyperspectral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Limited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Good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Robust (PCA+Structural)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Sub-Pixel Refinement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Coarse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△ Approx.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Structure Tensor (&lt;0.5px)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Robust Outlier Rejection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RANSAC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USAC_MAGSAC++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Spatial Match Distribution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Clustered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4x4 Grid Balancing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Autonomous Quality Gate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53030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543D"/>
                          </a:solidFill>
                          <a:latin typeface="Arial"/>
                        </a:defRPr>
                      </a:pPr>
                      <a:r>
                        <a:t>✓ Decision Engine (3-State)</a:t>
                      </a:r>
                    </a:p>
                  </a:txBody>
                  <a:tcPr marL="36576" marR="36576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5989320" y="585216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i="1">
                <a:solidFill>
                  <a:srgbClr val="718096"/>
                </a:solidFill>
                <a:latin typeface="Arial"/>
              </a:defRPr>
            </a:pPr>
            <a:r>
              <a:t>Legend: ✓ = Supported / High  ·  △ = Partial  ·  ✗ = Unsupported / Fails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